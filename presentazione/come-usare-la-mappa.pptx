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zione" id="{456c68e3-1586-d74c-c1a1-e42263738168}">
          <p14:sldIdLst>
            <p14:sldId id="256"/>
            <p14:sldId id="257"/>
          </p14:sldIdLst>
        </p14:section>
        <p14:section name="La mappa" id="{e477c12e-16a5-625d-ffec-90d07728208d}">
          <p14:sldIdLst>
            <p14:sldId id="258"/>
            <p14:sldId id="259"/>
            <p14:sldId id="260"/>
            <p14:sldId id="261"/>
          </p14:sldIdLst>
        </p14:section>
        <p14:section name="L'app" id="{f8533fcc-d571-56f4-9e88-90cff2e10d71}">
          <p14:sldIdLst>
            <p14:sldId id="262"/>
            <p14:sldId id="263"/>
          </p14:sldIdLst>
        </p14:section>
        <p14:section name="Sul telefono" id="{ab64c3d7-2316-b108-31fa-8772edec7691}">
          <p14:sldIdLst>
            <p14:sldId id="264"/>
            <p14:sldId id="265"/>
          </p14:sldIdLst>
        </p14:section>
        <p14:section name="Dove trovarli" id="{638766ca-c08c-721e-8dd7-f19f1c80318d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Presentazione di come usare la mappa concettuale costruita dai post-it della porta e l'app di allenamento all'orale.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Come usare la mappa dei post-it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Due strumenti per ripassare in vista dell'orale di dottorato: la mappa concettuale e l'allenamento alle domande</a:t>
            </a:r>
            <a:endParaRPr lang="en-US" sz="2000" dirty="0"/>
          </a:p>
        </p:txBody>
      </p:sp>
      <p:sp>
        <p:nvSpPr>
          <p:cNvPr id="4" name="postit-0"/>
          <p:cNvSpPr/>
          <p:nvPr/>
        </p:nvSpPr>
        <p:spPr>
          <a:xfrm rot="-240000">
            <a:off x="731520" y="822960"/>
            <a:ext cx="457200" cy="457200"/>
          </a:xfrm>
          <a:prstGeom prst="rect">
            <a:avLst/>
          </a:prstGeom>
          <a:solidFill>
            <a:srgbClr val="C8EC6A"/>
          </a:solidFill>
          <a:ln/>
        </p:spPr>
      </p:sp>
      <p:sp>
        <p:nvSpPr>
          <p:cNvPr id="5" name="postit-1"/>
          <p:cNvSpPr/>
          <p:nvPr/>
        </p:nvSpPr>
        <p:spPr>
          <a:xfrm rot="180000">
            <a:off x="1325880" y="822960"/>
            <a:ext cx="457200" cy="457200"/>
          </a:xfrm>
          <a:prstGeom prst="rect">
            <a:avLst/>
          </a:prstGeom>
          <a:solidFill>
            <a:srgbClr val="7FD0F2"/>
          </a:solidFill>
          <a:ln/>
        </p:spPr>
      </p:sp>
      <p:sp>
        <p:nvSpPr>
          <p:cNvPr id="6" name="postit-2"/>
          <p:cNvSpPr/>
          <p:nvPr/>
        </p:nvSpPr>
        <p:spPr>
          <a:xfrm rot="-120000">
            <a:off x="1920240" y="822960"/>
            <a:ext cx="457200" cy="457200"/>
          </a:xfrm>
          <a:prstGeom prst="rect">
            <a:avLst/>
          </a:prstGeom>
          <a:solidFill>
            <a:srgbClr val="F7A8C4"/>
          </a:solidFill>
          <a:ln/>
        </p:spPr>
      </p:sp>
      <p:sp>
        <p:nvSpPr>
          <p:cNvPr id="7" name="postit-3"/>
          <p:cNvSpPr/>
          <p:nvPr/>
        </p:nvSpPr>
        <p:spPr>
          <a:xfrm rot="240000">
            <a:off x="2514600" y="822960"/>
            <a:ext cx="457200" cy="457200"/>
          </a:xfrm>
          <a:prstGeom prst="rect">
            <a:avLst/>
          </a:prstGeom>
          <a:solidFill>
            <a:srgbClr val="F6E7A1"/>
          </a:solidFill>
          <a:ln/>
        </p:spPr>
      </p:sp>
      <p:sp>
        <p:nvSpPr>
          <p:cNvPr id="8" name="postit-4"/>
          <p:cNvSpPr/>
          <p:nvPr/>
        </p:nvSpPr>
        <p:spPr>
          <a:xfrm rot="-180000">
            <a:off x="3108960" y="822960"/>
            <a:ext cx="457200" cy="457200"/>
          </a:xfrm>
          <a:prstGeom prst="rect">
            <a:avLst/>
          </a:prstGeom>
          <a:solidFill>
            <a:srgbClr val="F6B5A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Due strumenti, un solo obiettivo: arrivare all'orale sicura</a:t>
            </a:r>
            <a:endParaRPr lang="en-US" sz="3600" dirty="0"/>
          </a:p>
        </p:txBody>
      </p:sp>
      <p:sp>
        <p:nvSpPr>
          <p:cNvPr id="3" name="n1-bg"/>
          <p:cNvSpPr/>
          <p:nvPr/>
        </p:nvSpPr>
        <p:spPr>
          <a:xfrm>
            <a:off x="548640" y="1463040"/>
            <a:ext cx="5394960" cy="1417320"/>
          </a:xfrm>
          <a:prstGeom prst="rect">
            <a:avLst/>
          </a:prstGeom>
          <a:solidFill>
            <a:srgbClr val="C8EC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n1"/>
          <p:cNvSpPr txBox="1"/>
          <p:nvPr/>
        </p:nvSpPr>
        <p:spPr>
          <a:xfrm>
            <a:off x="685800" y="1572768"/>
            <a:ext cx="5120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1A17"/>
                </a:solidFill>
              </a:rPr>
              <a:t>1. La porta dei post-it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1A17"/>
                </a:solidFill>
              </a:rPr>
              <a:t>La mappa concettuale: tutti i tuoi post-it divisi per autore, con i collegamenti tra le idee.</a:t>
            </a:r>
            <a:endParaRPr lang="en-US" sz="1600" dirty="0"/>
          </a:p>
        </p:txBody>
      </p:sp>
      <p:sp>
        <p:nvSpPr>
          <p:cNvPr id="5" name="n2-bg"/>
          <p:cNvSpPr/>
          <p:nvPr/>
        </p:nvSpPr>
        <p:spPr>
          <a:xfrm>
            <a:off x="6217920" y="1463040"/>
            <a:ext cx="5394960" cy="1417320"/>
          </a:xfrm>
          <a:prstGeom prst="rect">
            <a:avLst/>
          </a:prstGeom>
          <a:solidFill>
            <a:srgbClr val="7FD0F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n2"/>
          <p:cNvSpPr txBox="1"/>
          <p:nvPr/>
        </p:nvSpPr>
        <p:spPr>
          <a:xfrm>
            <a:off x="6355080" y="1572768"/>
            <a:ext cx="5120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1A17"/>
                </a:solidFill>
              </a:rPr>
              <a:t>2. Allenamento all'orale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1A17"/>
                </a:solidFill>
              </a:rPr>
              <a:t>L'app con le domande probabili del colloquio, i punti deboli e un timer da 2 minuti.</a:t>
            </a:r>
            <a:endParaRPr lang="en-US" sz="1600" dirty="0"/>
          </a:p>
        </p:txBody>
      </p:sp>
      <p:sp>
        <p:nvSpPr>
          <p:cNvPr id="7" name="img-map-frame"/>
          <p:cNvSpPr/>
          <p:nvPr/>
        </p:nvSpPr>
        <p:spPr>
          <a:xfrm>
            <a:off x="512064" y="3118104"/>
            <a:ext cx="5468112" cy="2897624"/>
          </a:xfrm>
          <a:prstGeom prst="rect">
            <a:avLst/>
          </a:prstGeom>
          <a:solidFill>
            <a:srgbClr val="E6E1DA"/>
          </a:solidFill>
          <a:ln/>
        </p:spPr>
      </p:sp>
      <p:pic>
        <p:nvPicPr>
          <p:cNvPr id="8" name="img-map" descr="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54680"/>
            <a:ext cx="5394960" cy="2824472"/>
          </a:xfrm>
          <a:prstGeom prst="rect">
            <a:avLst/>
          </a:prstGeom>
        </p:spPr>
      </p:pic>
      <p:sp>
        <p:nvSpPr>
          <p:cNvPr id="9" name="img-app-frame"/>
          <p:cNvSpPr/>
          <p:nvPr/>
        </p:nvSpPr>
        <p:spPr>
          <a:xfrm>
            <a:off x="6181344" y="3118104"/>
            <a:ext cx="3639312" cy="2666723"/>
          </a:xfrm>
          <a:prstGeom prst="rect">
            <a:avLst/>
          </a:prstGeom>
          <a:solidFill>
            <a:srgbClr val="E6E1DA"/>
          </a:solidFill>
          <a:ln/>
        </p:spPr>
      </p:sp>
      <p:pic>
        <p:nvPicPr>
          <p:cNvPr id="10" name="img-app" descr="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154680"/>
            <a:ext cx="3566160" cy="259357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966960" y="315468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645D"/>
                </a:solidFill>
              </a:rPr>
              <a:t>Sono pagine HTML: si aprono nel browser, anche dal telefono.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Il filo tra gli autori: da dove partire</a:t>
            </a:r>
            <a:endParaRPr lang="en-US" sz="3600" dirty="0"/>
          </a:p>
        </p:txBody>
      </p:sp>
      <p:sp>
        <p:nvSpPr>
          <p:cNvPr id="3" name="img-map2-frame"/>
          <p:cNvSpPr/>
          <p:nvPr/>
        </p:nvSpPr>
        <p:spPr>
          <a:xfrm>
            <a:off x="512064" y="1380744"/>
            <a:ext cx="6839712" cy="3615710"/>
          </a:xfrm>
          <a:prstGeom prst="rect">
            <a:avLst/>
          </a:prstGeom>
          <a:solidFill>
            <a:srgbClr val="E6E1DA"/>
          </a:solidFill>
          <a:ln/>
        </p:spPr>
      </p:sp>
      <p:pic>
        <p:nvPicPr>
          <p:cNvPr id="4" name="img-map2" descr="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766560" cy="3542558"/>
          </a:xfrm>
          <a:prstGeom prst="rect">
            <a:avLst/>
          </a:prstGeom>
        </p:spPr>
      </p:pic>
      <p:sp>
        <p:nvSpPr>
          <p:cNvPr id="5" name="n3-bg"/>
          <p:cNvSpPr/>
          <p:nvPr/>
        </p:nvSpPr>
        <p:spPr>
          <a:xfrm>
            <a:off x="7680960" y="1417320"/>
            <a:ext cx="3931920" cy="1325880"/>
          </a:xfrm>
          <a:prstGeom prst="rect">
            <a:avLst/>
          </a:prstGeom>
          <a:solidFill>
            <a:srgbClr val="F6E7A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n3"/>
          <p:cNvSpPr txBox="1"/>
          <p:nvPr/>
        </p:nvSpPr>
        <p:spPr>
          <a:xfrm>
            <a:off x="7818120" y="1527048"/>
            <a:ext cx="36576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1A17"/>
                </a:solidFill>
              </a:rPr>
              <a:t>Clicca un autore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1A17"/>
                </a:solidFill>
              </a:rPr>
              <a:t>Salti direttamente al suo pannello di post-it.</a:t>
            </a:r>
            <a:endParaRPr lang="en-US" sz="1600" dirty="0"/>
          </a:p>
        </p:txBody>
      </p:sp>
      <p:sp>
        <p:nvSpPr>
          <p:cNvPr id="7" name="n4-bg"/>
          <p:cNvSpPr/>
          <p:nvPr/>
        </p:nvSpPr>
        <p:spPr>
          <a:xfrm>
            <a:off x="7680960" y="2971800"/>
            <a:ext cx="3931920" cy="1325880"/>
          </a:xfrm>
          <a:prstGeom prst="rect">
            <a:avLst/>
          </a:prstGeom>
          <a:solidFill>
            <a:srgbClr val="F7A8C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n4"/>
          <p:cNvSpPr txBox="1"/>
          <p:nvPr/>
        </p:nvSpPr>
        <p:spPr>
          <a:xfrm>
            <a:off x="7818120" y="3081528"/>
            <a:ext cx="36576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1A17"/>
                </a:solidFill>
              </a:rPr>
              <a:t>Leggi le frecce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1A17"/>
                </a:solidFill>
              </a:rPr>
              <a:t>Ogni freccia è un passaggio del tuo ragionamento: "oltre il piano", "chi rende ufficiale?".</a:t>
            </a:r>
            <a:endParaRPr lang="en-US" sz="1600" dirty="0"/>
          </a:p>
        </p:txBody>
      </p:sp>
      <p:sp>
        <p:nvSpPr>
          <p:cNvPr id="9" name="n5-bg"/>
          <p:cNvSpPr/>
          <p:nvPr/>
        </p:nvSpPr>
        <p:spPr>
          <a:xfrm>
            <a:off x="7680960" y="4526280"/>
            <a:ext cx="3931920" cy="1325880"/>
          </a:xfrm>
          <a:prstGeom prst="rect">
            <a:avLst/>
          </a:prstGeom>
          <a:solidFill>
            <a:srgbClr val="C8EC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n5"/>
          <p:cNvSpPr txBox="1"/>
          <p:nvPr/>
        </p:nvSpPr>
        <p:spPr>
          <a:xfrm>
            <a:off x="7818120" y="4636008"/>
            <a:ext cx="36576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1A17"/>
                </a:solidFill>
              </a:rPr>
              <a:t>Etichetta "potere"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1A17"/>
                </a:solidFill>
              </a:rPr>
              <a:t>Long, Ferguson, Escobar e Mohanty: da qui viene la dimensione del potere.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 post-it e il pannello di studio</a:t>
            </a:r>
            <a:endParaRPr lang="en-US" sz="3600" dirty="0"/>
          </a:p>
        </p:txBody>
      </p:sp>
      <p:sp>
        <p:nvSpPr>
          <p:cNvPr id="3" name="img-notes-frame"/>
          <p:cNvSpPr/>
          <p:nvPr/>
        </p:nvSpPr>
        <p:spPr>
          <a:xfrm>
            <a:off x="512064" y="1380744"/>
            <a:ext cx="6839712" cy="4302252"/>
          </a:xfrm>
          <a:prstGeom prst="rect">
            <a:avLst/>
          </a:prstGeom>
          <a:solidFill>
            <a:srgbClr val="E6E1DA"/>
          </a:solidFill>
          <a:ln/>
        </p:spPr>
      </p:sp>
      <p:pic>
        <p:nvPicPr>
          <p:cNvPr id="4" name="img-notes" descr="no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766560" cy="4229100"/>
          </a:xfrm>
          <a:prstGeom prst="rect">
            <a:avLst/>
          </a:prstGeom>
        </p:spPr>
      </p:pic>
      <p:sp>
        <p:nvSpPr>
          <p:cNvPr id="5" name="notes-list"/>
          <p:cNvSpPr txBox="1"/>
          <p:nvPr/>
        </p:nvSpPr>
        <p:spPr>
          <a:xfrm>
            <a:off x="7680960" y="1417320"/>
            <a:ext cx="3931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4211E"/>
                </a:solidFill>
              </a:rPr>
              <a:t>Clicca un post-it: a destra si apre il pannello con il testo intero e i post-it collegati, con il perché del collegamento.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4211E"/>
                </a:solidFill>
              </a:rPr>
              <a:t>IMP in rosso: lo avevi segnato tu come importante.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4211E"/>
                </a:solidFill>
              </a:rPr>
              <a:t>Titolo barrato: è un'idea che l'autore critica.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4211E"/>
                </a:solidFill>
              </a:rPr>
              <a:t>Cerca un concetto ("potere", "agency") o filtra per autore.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Collegare ogni autore alla tua ricerca</a:t>
            </a:r>
            <a:endParaRPr lang="en-US" sz="3600" dirty="0"/>
          </a:p>
        </p:txBody>
      </p:sp>
      <p:sp>
        <p:nvSpPr>
          <p:cNvPr id="3" name="img-sq-frame"/>
          <p:cNvSpPr/>
          <p:nvPr/>
        </p:nvSpPr>
        <p:spPr>
          <a:xfrm>
            <a:off x="512064" y="1380744"/>
            <a:ext cx="6839712" cy="4302252"/>
          </a:xfrm>
          <a:prstGeom prst="rect">
            <a:avLst/>
          </a:prstGeom>
          <a:solidFill>
            <a:srgbClr val="E6E1DA"/>
          </a:solidFill>
          <a:ln/>
        </p:spPr>
      </p:sp>
      <p:pic>
        <p:nvPicPr>
          <p:cNvPr id="4" name="img-sq" descr="s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766560" cy="4229100"/>
          </a:xfrm>
          <a:prstGeom prst="rect">
            <a:avLst/>
          </a:prstGeom>
        </p:spPr>
      </p:pic>
      <p:sp>
        <p:nvSpPr>
          <p:cNvPr id="5" name="n6-bg"/>
          <p:cNvSpPr/>
          <p:nvPr/>
        </p:nvSpPr>
        <p:spPr>
          <a:xfrm>
            <a:off x="7680960" y="1417320"/>
            <a:ext cx="3931920" cy="1965960"/>
          </a:xfrm>
          <a:prstGeom prst="rect">
            <a:avLst/>
          </a:prstGeom>
          <a:solidFill>
            <a:srgbClr val="E3F1E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n6"/>
          <p:cNvSpPr txBox="1"/>
          <p:nvPr/>
        </p:nvSpPr>
        <p:spPr>
          <a:xfrm>
            <a:off x="7818120" y="1527048"/>
            <a:ext cx="36576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1A17"/>
                </a:solidFill>
              </a:rPr>
              <a:t>Riquadro West Pokot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1A17"/>
                </a:solidFill>
              </a:rPr>
              <a:t>In ogni pannello: come usi quell'autore per leggere l'impianto di irrigazione. È una proposta da riscrivere con parole tue.</a:t>
            </a:r>
            <a:endParaRPr lang="en-US" sz="1600" dirty="0"/>
          </a:p>
        </p:txBody>
      </p:sp>
      <p:sp>
        <p:nvSpPr>
          <p:cNvPr id="7" name="n7-bg"/>
          <p:cNvSpPr/>
          <p:nvPr/>
        </p:nvSpPr>
        <p:spPr>
          <a:xfrm>
            <a:off x="7680960" y="3611880"/>
            <a:ext cx="3931920" cy="1965960"/>
          </a:xfrm>
          <a:prstGeom prst="rect">
            <a:avLst/>
          </a:prstGeom>
          <a:solidFill>
            <a:srgbClr val="E3F1E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n7"/>
          <p:cNvSpPr txBox="1"/>
          <p:nvPr/>
        </p:nvSpPr>
        <p:spPr>
          <a:xfrm>
            <a:off x="7818120" y="3721608"/>
            <a:ext cx="36576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1A17"/>
                </a:solidFill>
              </a:rPr>
              <a:t>Le tue sotto-domande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1A17"/>
                </a:solidFill>
              </a:rPr>
              <a:t>SQ1 Relazioni, SQ2 Potere, SQ3 Ecological Framework: cliccane una e restano solo gli autori che la sostengono.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Modalità Ripasso: prima ricorda, poi controlla</a:t>
            </a:r>
            <a:endParaRPr lang="en-US" sz="3600" dirty="0"/>
          </a:p>
        </p:txBody>
      </p:sp>
      <p:sp>
        <p:nvSpPr>
          <p:cNvPr id="3" name="img-study-frame"/>
          <p:cNvSpPr/>
          <p:nvPr/>
        </p:nvSpPr>
        <p:spPr>
          <a:xfrm>
            <a:off x="4809744" y="1380744"/>
            <a:ext cx="6839712" cy="4302252"/>
          </a:xfrm>
          <a:prstGeom prst="rect">
            <a:avLst/>
          </a:prstGeom>
          <a:solidFill>
            <a:srgbClr val="E6E1DA"/>
          </a:solidFill>
          <a:ln/>
        </p:spPr>
      </p:sp>
      <p:pic>
        <p:nvPicPr>
          <p:cNvPr id="4" name="img-study" descr="stu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417320"/>
            <a:ext cx="6766560" cy="4229100"/>
          </a:xfrm>
          <a:prstGeom prst="rect">
            <a:avLst/>
          </a:prstGeom>
        </p:spPr>
      </p:pic>
      <p:sp>
        <p:nvSpPr>
          <p:cNvPr id="5" name="step-1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tepn-1"/>
          <p:cNvSpPr txBox="1"/>
          <p:nvPr/>
        </p:nvSpPr>
        <p:spPr>
          <a:xfrm>
            <a:off x="5486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stept-1"/>
          <p:cNvSpPr txBox="1"/>
          <p:nvPr/>
        </p:nvSpPr>
        <p:spPr>
          <a:xfrm>
            <a:off x="1371600" y="13716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Premi Ripasso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B645D"/>
                </a:solidFill>
              </a:rPr>
              <a:t>Il testo dei post-it e dei riquadri West Pokot diventa sfocato.</a:t>
            </a:r>
            <a:endParaRPr lang="en-US" sz="1800" dirty="0"/>
          </a:p>
        </p:txBody>
      </p:sp>
      <p:sp>
        <p:nvSpPr>
          <p:cNvPr id="8" name="step-2"/>
          <p:cNvSpPr/>
          <p:nvPr/>
        </p:nvSpPr>
        <p:spPr>
          <a:xfrm>
            <a:off x="548640" y="2880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tepn-2"/>
          <p:cNvSpPr txBox="1"/>
          <p:nvPr/>
        </p:nvSpPr>
        <p:spPr>
          <a:xfrm>
            <a:off x="54864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stept-2"/>
          <p:cNvSpPr txBox="1"/>
          <p:nvPr/>
        </p:nvSpPr>
        <p:spPr>
          <a:xfrm>
            <a:off x="1371600" y="28346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Ricorda ad alta voce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B645D"/>
                </a:solidFill>
              </a:rPr>
              <a:t>Leggi solo il titolo e prova a spiegare il concetto.</a:t>
            </a:r>
            <a:endParaRPr lang="en-US" sz="1800" dirty="0"/>
          </a:p>
        </p:txBody>
      </p:sp>
      <p:sp>
        <p:nvSpPr>
          <p:cNvPr id="11" name="step-3"/>
          <p:cNvSpPr/>
          <p:nvPr/>
        </p:nvSpPr>
        <p:spPr>
          <a:xfrm>
            <a:off x="548640" y="4343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tepn-3"/>
          <p:cNvSpPr txBox="1"/>
          <p:nvPr/>
        </p:nvSpPr>
        <p:spPr>
          <a:xfrm>
            <a:off x="54864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stept-3"/>
          <p:cNvSpPr txBox="1"/>
          <p:nvPr/>
        </p:nvSpPr>
        <p:spPr>
          <a:xfrm>
            <a:off x="1371600" y="42976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Clicca e verifica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B645D"/>
                </a:solidFill>
              </a:rPr>
              <a:t>Il post-it si scopre e il pannello mostra a cosa si collega.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Allenamento all'orale: tre schede</a:t>
            </a:r>
            <a:endParaRPr lang="en-US" sz="3600" dirty="0"/>
          </a:p>
        </p:txBody>
      </p:sp>
      <p:sp>
        <p:nvSpPr>
          <p:cNvPr id="3" name="img-weak-frame"/>
          <p:cNvSpPr/>
          <p:nvPr/>
        </p:nvSpPr>
        <p:spPr>
          <a:xfrm>
            <a:off x="5998464" y="1380744"/>
            <a:ext cx="5650992" cy="4129763"/>
          </a:xfrm>
          <a:prstGeom prst="rect">
            <a:avLst/>
          </a:prstGeom>
          <a:solidFill>
            <a:srgbClr val="E6E1DA"/>
          </a:solidFill>
          <a:ln/>
        </p:spPr>
      </p:sp>
      <p:pic>
        <p:nvPicPr>
          <p:cNvPr id="4" name="img-weak" descr="wea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417320"/>
            <a:ext cx="5577840" cy="4056611"/>
          </a:xfrm>
          <a:prstGeom prst="rect">
            <a:avLst/>
          </a:prstGeom>
        </p:spPr>
      </p:pic>
      <p:sp>
        <p:nvSpPr>
          <p:cNvPr id="5" name="n8-bg"/>
          <p:cNvSpPr/>
          <p:nvPr/>
        </p:nvSpPr>
        <p:spPr>
          <a:xfrm>
            <a:off x="548640" y="1417320"/>
            <a:ext cx="5212080" cy="1234440"/>
          </a:xfrm>
          <a:prstGeom prst="rect">
            <a:avLst/>
          </a:prstGeom>
          <a:solidFill>
            <a:srgbClr val="C8EC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n8"/>
          <p:cNvSpPr txBox="1"/>
          <p:nvPr/>
        </p:nvSpPr>
        <p:spPr>
          <a:xfrm>
            <a:off x="685800" y="1527048"/>
            <a:ext cx="49377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1A17"/>
                </a:solidFill>
              </a:rPr>
              <a:t>Domande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1A17"/>
                </a:solidFill>
              </a:rPr>
              <a:t>Le domande probabili, con traccia di risposta e post-it da citare.</a:t>
            </a:r>
            <a:endParaRPr lang="en-US" sz="1600" dirty="0"/>
          </a:p>
        </p:txBody>
      </p:sp>
      <p:sp>
        <p:nvSpPr>
          <p:cNvPr id="7" name="n9-bg"/>
          <p:cNvSpPr/>
          <p:nvPr/>
        </p:nvSpPr>
        <p:spPr>
          <a:xfrm>
            <a:off x="548640" y="2834640"/>
            <a:ext cx="5212080" cy="1234440"/>
          </a:xfrm>
          <a:prstGeom prst="rect">
            <a:avLst/>
          </a:prstGeom>
          <a:solidFill>
            <a:srgbClr val="F6B5A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n9"/>
          <p:cNvSpPr txBox="1"/>
          <p:nvPr/>
        </p:nvSpPr>
        <p:spPr>
          <a:xfrm>
            <a:off x="685800" y="2944368"/>
            <a:ext cx="49377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1A17"/>
                </a:solidFill>
              </a:rPr>
              <a:t>Punti deboli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1A17"/>
                </a:solidFill>
              </a:rPr>
              <a:t>Le critiche più dure al progetto e come rispondere.</a:t>
            </a:r>
            <a:endParaRPr lang="en-US" sz="1600" dirty="0"/>
          </a:p>
        </p:txBody>
      </p:sp>
      <p:sp>
        <p:nvSpPr>
          <p:cNvPr id="9" name="n10-bg"/>
          <p:cNvSpPr/>
          <p:nvPr/>
        </p:nvSpPr>
        <p:spPr>
          <a:xfrm>
            <a:off x="548640" y="4251960"/>
            <a:ext cx="5212080" cy="1234440"/>
          </a:xfrm>
          <a:prstGeom prst="rect">
            <a:avLst/>
          </a:prstGeom>
          <a:solidFill>
            <a:srgbClr val="7FD0F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n10"/>
          <p:cNvSpPr txBox="1"/>
          <p:nvPr/>
        </p:nvSpPr>
        <p:spPr>
          <a:xfrm>
            <a:off x="685800" y="4361688"/>
            <a:ext cx="49377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1A17"/>
                </a:solidFill>
              </a:rPr>
              <a:t>Interrogami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1A17"/>
                </a:solidFill>
              </a:rPr>
              <a:t>Una domanda a caso tra quelle che non sai ancora.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Come allenarsi con una domanda</a:t>
            </a:r>
            <a:endParaRPr lang="en-US" sz="3600" dirty="0"/>
          </a:p>
        </p:txBody>
      </p:sp>
      <p:sp>
        <p:nvSpPr>
          <p:cNvPr id="3" name="card-0"/>
          <p:cNvSpPr/>
          <p:nvPr/>
        </p:nvSpPr>
        <p:spPr>
          <a:xfrm>
            <a:off x="548640" y="1828800"/>
            <a:ext cx="2560320" cy="29260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4" name="cardn-0"/>
          <p:cNvSpPr txBox="1"/>
          <p:nvPr/>
        </p:nvSpPr>
        <p:spPr>
          <a:xfrm>
            <a:off x="777240" y="2011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5" name="cardt-0"/>
          <p:cNvSpPr txBox="1"/>
          <p:nvPr/>
        </p:nvSpPr>
        <p:spPr>
          <a:xfrm>
            <a:off x="777240" y="288036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</a:rPr>
              <a:t>Avvia il timer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433D"/>
                </a:solidFill>
              </a:rPr>
              <a:t>Rispondi ad alta voce: hai 2 minuti, il tempo di una risposta all'orale.</a:t>
            </a:r>
            <a:endParaRPr lang="en-US" sz="1800" dirty="0"/>
          </a:p>
        </p:txBody>
      </p:sp>
      <p:sp>
        <p:nvSpPr>
          <p:cNvPr id="6" name="card-1"/>
          <p:cNvSpPr/>
          <p:nvPr/>
        </p:nvSpPr>
        <p:spPr>
          <a:xfrm>
            <a:off x="3383280" y="1828800"/>
            <a:ext cx="2560320" cy="29260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7" name="cardn-1"/>
          <p:cNvSpPr txBox="1"/>
          <p:nvPr/>
        </p:nvSpPr>
        <p:spPr>
          <a:xfrm>
            <a:off x="3611880" y="2011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8" name="cardt-1"/>
          <p:cNvSpPr txBox="1"/>
          <p:nvPr/>
        </p:nvSpPr>
        <p:spPr>
          <a:xfrm>
            <a:off x="3611880" y="288036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</a:rPr>
              <a:t>Apri la traccia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433D"/>
                </a:solidFill>
              </a:rPr>
              <a:t>Confronta con la scaletta e con i post-it da citare.</a:t>
            </a:r>
            <a:endParaRPr lang="en-US" sz="1800" dirty="0"/>
          </a:p>
        </p:txBody>
      </p:sp>
      <p:sp>
        <p:nvSpPr>
          <p:cNvPr id="9" name="card-2"/>
          <p:cNvSpPr/>
          <p:nvPr/>
        </p:nvSpPr>
        <p:spPr>
          <a:xfrm>
            <a:off x="6217920" y="1828800"/>
            <a:ext cx="2560320" cy="29260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0" name="cardn-2"/>
          <p:cNvSpPr txBox="1"/>
          <p:nvPr/>
        </p:nvSpPr>
        <p:spPr>
          <a:xfrm>
            <a:off x="6446520" y="2011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cardt-2"/>
          <p:cNvSpPr txBox="1"/>
          <p:nvPr/>
        </p:nvSpPr>
        <p:spPr>
          <a:xfrm>
            <a:off x="6446520" y="288036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</a:rPr>
              <a:t>Segna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433D"/>
                </a:solidFill>
              </a:rPr>
              <a:t>"La so" o "Da ripassare": il conteggio in alto ti dice a che punto sei.</a:t>
            </a:r>
            <a:endParaRPr lang="en-US" sz="1800" dirty="0"/>
          </a:p>
        </p:txBody>
      </p:sp>
      <p:sp>
        <p:nvSpPr>
          <p:cNvPr id="12" name="card-3"/>
          <p:cNvSpPr/>
          <p:nvPr/>
        </p:nvSpPr>
        <p:spPr>
          <a:xfrm>
            <a:off x="9052560" y="1828800"/>
            <a:ext cx="2560320" cy="29260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3" name="cardn-3"/>
          <p:cNvSpPr txBox="1"/>
          <p:nvPr/>
        </p:nvSpPr>
        <p:spPr>
          <a:xfrm>
            <a:off x="9281160" y="2011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4" name="cardt-3"/>
          <p:cNvSpPr txBox="1"/>
          <p:nvPr/>
        </p:nvSpPr>
        <p:spPr>
          <a:xfrm>
            <a:off x="9281160" y="288036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</a:rPr>
              <a:t>Riformula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433D"/>
                </a:solidFill>
              </a:rPr>
              <a:t>Le tracce le ha scritte Claude dal tuo progetto: riscrivile con parole tue.</a:t>
            </a:r>
            <a:endParaRPr lang="en-US" sz="1800" dirty="0"/>
          </a:p>
        </p:txBody>
      </p:sp>
      <p:sp>
        <p:nvSpPr>
          <p:cNvPr id="15" name="save-note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45D"/>
                </a:solidFill>
              </a:rPr>
              <a:t>Le schede segnate restano salvate nel browser di quel dispositivo.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Ripassare dal telefono</a:t>
            </a:r>
            <a:endParaRPr lang="en-US" sz="3600" dirty="0"/>
          </a:p>
        </p:txBody>
      </p:sp>
      <p:sp>
        <p:nvSpPr>
          <p:cNvPr id="3" name="img-phone-map-frame"/>
          <p:cNvSpPr/>
          <p:nvPr/>
        </p:nvSpPr>
        <p:spPr>
          <a:xfrm>
            <a:off x="694944" y="1335024"/>
            <a:ext cx="2359152" cy="5020290"/>
          </a:xfrm>
          <a:prstGeom prst="rect">
            <a:avLst/>
          </a:prstGeom>
          <a:solidFill>
            <a:srgbClr val="E6E1DA"/>
          </a:solidFill>
          <a:ln/>
        </p:spPr>
      </p:sp>
      <p:pic>
        <p:nvPicPr>
          <p:cNvPr id="4" name="img-phone-map" descr="phone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286000" cy="4947138"/>
          </a:xfrm>
          <a:prstGeom prst="rect">
            <a:avLst/>
          </a:prstGeom>
        </p:spPr>
      </p:pic>
      <p:sp>
        <p:nvSpPr>
          <p:cNvPr id="5" name="img-phone-app-frame"/>
          <p:cNvSpPr/>
          <p:nvPr/>
        </p:nvSpPr>
        <p:spPr>
          <a:xfrm>
            <a:off x="3255264" y="1335024"/>
            <a:ext cx="2359152" cy="5020290"/>
          </a:xfrm>
          <a:prstGeom prst="rect">
            <a:avLst/>
          </a:prstGeom>
          <a:solidFill>
            <a:srgbClr val="E6E1DA"/>
          </a:solidFill>
          <a:ln/>
        </p:spPr>
      </p:sp>
      <p:pic>
        <p:nvPicPr>
          <p:cNvPr id="6" name="img-phone-app" descr="phone-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371600"/>
            <a:ext cx="2286000" cy="4947138"/>
          </a:xfrm>
          <a:prstGeom prst="rect">
            <a:avLst/>
          </a:prstGeom>
        </p:spPr>
      </p:pic>
      <p:sp>
        <p:nvSpPr>
          <p:cNvPr id="7" name="phone-list"/>
          <p:cNvSpPr txBox="1"/>
          <p:nvPr/>
        </p:nvSpPr>
        <p:spPr>
          <a:xfrm>
            <a:off x="6035040" y="1463040"/>
            <a:ext cx="5577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11E"/>
                </a:solidFill>
              </a:rPr>
              <a:t>I post-it si dispongono su due colonne; i filtri scorrono di lato.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11E"/>
                </a:solidFill>
              </a:rPr>
              <a:t>Toccando un post-it, il pannello di studio sale dal basso. "Chiudi" lo riabbassa.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11E"/>
                </a:solidFill>
              </a:rPr>
              <a:t>La mappa degli autori si scorre in orizzontale.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11E"/>
                </a:solidFill>
              </a:rPr>
              <a:t>Per averla sempre a portata: dal browser, "Aggiungi a schermata Home".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Una routine di ripasso possibile</a:t>
            </a:r>
            <a:endParaRPr lang="en-US" sz="3600" dirty="0"/>
          </a:p>
        </p:txBody>
      </p:sp>
      <p:sp>
        <p:nvSpPr>
          <p:cNvPr id="3" name="r0-bg"/>
          <p:cNvSpPr/>
          <p:nvPr/>
        </p:nvSpPr>
        <p:spPr>
          <a:xfrm>
            <a:off x="548640" y="1463040"/>
            <a:ext cx="5394960" cy="1828800"/>
          </a:xfrm>
          <a:prstGeom prst="rect">
            <a:avLst/>
          </a:prstGeom>
          <a:solidFill>
            <a:srgbClr val="C8EC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r0"/>
          <p:cNvSpPr txBox="1"/>
          <p:nvPr/>
        </p:nvSpPr>
        <p:spPr>
          <a:xfrm>
            <a:off x="685800" y="1572768"/>
            <a:ext cx="5120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1A17"/>
                </a:solidFill>
              </a:rPr>
              <a:t>Un autore al giorno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1A17"/>
                </a:solidFill>
              </a:rPr>
              <a:t>Mappa in modalità Ripasso: tutti i suoi post-it più il riquadro West Pokot.</a:t>
            </a:r>
            <a:endParaRPr lang="en-US" sz="1600" dirty="0"/>
          </a:p>
        </p:txBody>
      </p:sp>
      <p:sp>
        <p:nvSpPr>
          <p:cNvPr id="5" name="r1-bg"/>
          <p:cNvSpPr/>
          <p:nvPr/>
        </p:nvSpPr>
        <p:spPr>
          <a:xfrm>
            <a:off x="6217920" y="1463040"/>
            <a:ext cx="5394960" cy="1828800"/>
          </a:xfrm>
          <a:prstGeom prst="rect">
            <a:avLst/>
          </a:prstGeom>
          <a:solidFill>
            <a:srgbClr val="7FD0F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r1"/>
          <p:cNvSpPr txBox="1"/>
          <p:nvPr/>
        </p:nvSpPr>
        <p:spPr>
          <a:xfrm>
            <a:off x="6355080" y="1572768"/>
            <a:ext cx="5120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1A17"/>
                </a:solidFill>
              </a:rPr>
              <a:t>Una sotto-domanda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1A17"/>
                </a:solidFill>
              </a:rPr>
              <a:t>Filtra SQ1, SQ2 o SQ3 e spiega come ogni autore la sostiene.</a:t>
            </a:r>
            <a:endParaRPr lang="en-US" sz="1600" dirty="0"/>
          </a:p>
        </p:txBody>
      </p:sp>
      <p:sp>
        <p:nvSpPr>
          <p:cNvPr id="7" name="r2-bg"/>
          <p:cNvSpPr/>
          <p:nvPr/>
        </p:nvSpPr>
        <p:spPr>
          <a:xfrm>
            <a:off x="548640" y="3566160"/>
            <a:ext cx="5394960" cy="1828800"/>
          </a:xfrm>
          <a:prstGeom prst="rect">
            <a:avLst/>
          </a:prstGeom>
          <a:solidFill>
            <a:srgbClr val="F6E7A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r2"/>
          <p:cNvSpPr txBox="1"/>
          <p:nvPr/>
        </p:nvSpPr>
        <p:spPr>
          <a:xfrm>
            <a:off x="685800" y="3675888"/>
            <a:ext cx="5120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1A17"/>
                </a:solidFill>
              </a:rPr>
              <a:t>Cinque domande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1A17"/>
                </a:solidFill>
              </a:rPr>
              <a:t>Nell'app, scheda Interrogami, con il timer.</a:t>
            </a:r>
            <a:endParaRPr lang="en-US" sz="1600" dirty="0"/>
          </a:p>
        </p:txBody>
      </p:sp>
      <p:sp>
        <p:nvSpPr>
          <p:cNvPr id="9" name="r3-bg"/>
          <p:cNvSpPr/>
          <p:nvPr/>
        </p:nvSpPr>
        <p:spPr>
          <a:xfrm>
            <a:off x="6217920" y="3566160"/>
            <a:ext cx="5394960" cy="1828800"/>
          </a:xfrm>
          <a:prstGeom prst="rect">
            <a:avLst/>
          </a:prstGeom>
          <a:solidFill>
            <a:srgbClr val="F6B5A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r3"/>
          <p:cNvSpPr txBox="1"/>
          <p:nvPr/>
        </p:nvSpPr>
        <p:spPr>
          <a:xfrm>
            <a:off x="6355080" y="3675888"/>
            <a:ext cx="5120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1A17"/>
                </a:solidFill>
              </a:rPr>
              <a:t>Due punti deboli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1A17"/>
                </a:solidFill>
              </a:rPr>
              <a:t>Rispondi alla critica senza guardare la traccia.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Dove trovarli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Su GitHub (vignini/sentiment) nella cartella docs, con i link nel README, e come pagine su claude.ai. Le istruzioni complete sono in ISTRUZIONI.md.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a dei post-it">
  <a:themeElements>
    <a:clrScheme name="Porta dei post-it">
      <a:dk1>
        <a:srgbClr val="24211E"/>
      </a:dk1>
      <a:lt1>
        <a:srgbClr val="FFFFFF"/>
      </a:lt1>
      <a:dk2>
        <a:srgbClr val="3B2A20"/>
      </a:dk2>
      <a:lt2>
        <a:srgbClr val="F3F1ED"/>
      </a:lt2>
      <a:accent1>
        <a:srgbClr val="0F6B63"/>
      </a:accent1>
      <a:accent2>
        <a:srgbClr val="C8EC6A"/>
      </a:accent2>
      <a:accent3>
        <a:srgbClr val="7FD0F2"/>
      </a:accent3>
      <a:accent4>
        <a:srgbClr val="F7A8C4"/>
      </a:accent4>
      <a:accent5>
        <a:srgbClr val="F6B5A4"/>
      </a:accent5>
      <a:accent6>
        <a:srgbClr val="F6E7A1"/>
      </a:accent6>
      <a:hlink>
        <a:srgbClr val="0F6B63"/>
      </a:hlink>
      <a:folHlink>
        <a:srgbClr val="3B2A20"/>
      </a:folHlink>
    </a:clrScheme>
    <a:fontScheme name="Porta dei post-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Come usare la mappa dei post-it</dc:title>
  <dc:subject>PptxGenJS Presentation</dc:subject>
  <dc:creator>Claude</dc:creator>
  <cp:lastModifiedBy>Claude</cp:lastModifiedBy>
  <cp:revision>1</cp:revision>
  <dcterms:created xsi:type="dcterms:W3CDTF">2026-10-30T14:07:38Z</dcterms:created>
  <dcterms:modified xsi:type="dcterms:W3CDTF">2026-10-30T14:07:38Z</dcterms:modified>
</cp:coreProperties>
</file>