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8" r:id="rId19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zione" id="{456c68e3-1586-d74c-c1a1-e42263738168}">
          <p14:sldIdLst>
            <p14:sldId id="256"/>
            <p14:sldId id="257"/>
          </p14:sldIdLst>
        </p14:section>
        <p14:section name="La mappa" id="{e477c12e-16a5-625d-ffec-90d07728208d}">
          <p14:sldIdLst>
            <p14:sldId id="258"/>
            <p14:sldId id="259"/>
            <p14:sldId id="260"/>
            <p14:sldId id="261"/>
          </p14:sldIdLst>
        </p14:section>
        <p14:section name="L'app" id="{f8533fcc-d571-56f4-9e88-90cff2e10d71}">
          <p14:sldIdLst>
            <p14:sldId id="262"/>
            <p14:sldId id="263"/>
          </p14:sldIdLst>
        </p14:section>
        <p14:section name="Sul telefono" id="{ab64c3d7-2316-b108-31fa-8772edec7691}">
          <p14:sldIdLst>
            <p14:sldId id="264"/>
            <p14:sldId id="265"/>
          </p14:sldIdLst>
        </p14:section>
        <p14:section name="Dove trovarli" id="{638766ca-c08c-721e-8dd7-f19f1c80318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Presentazione di come usare la mappa concettuale costruita dai post-it della porta e l'app di allenamento all'orale.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Come usare la mappa dei post-it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Per l'orale di dottorato: la mappa dei post-it, l'allenamento alle domande e Il filo del discorso per presentare il progetto</a:t>
            </a:r>
            <a:endParaRPr lang="en-US" sz="2000" dirty="0"/>
          </a:p>
        </p:txBody>
      </p:sp>
      <p:sp>
        <p:nvSpPr>
          <p:cNvPr id="4" name="postit-0"/>
          <p:cNvSpPr/>
          <p:nvPr/>
        </p:nvSpPr>
        <p:spPr>
          <a:xfrm rot="-240000">
            <a:off x="731520" y="822960"/>
            <a:ext cx="457200" cy="457200"/>
          </a:xfrm>
          <a:prstGeom prst="rect">
            <a:avLst/>
          </a:prstGeom>
          <a:solidFill>
            <a:srgbClr val="C8EC6A"/>
          </a:solidFill>
          <a:ln/>
        </p:spPr>
      </p:sp>
      <p:sp>
        <p:nvSpPr>
          <p:cNvPr id="5" name="postit-1"/>
          <p:cNvSpPr/>
          <p:nvPr/>
        </p:nvSpPr>
        <p:spPr>
          <a:xfrm rot="180000">
            <a:off x="1325880" y="822960"/>
            <a:ext cx="457200" cy="457200"/>
          </a:xfrm>
          <a:prstGeom prst="rect">
            <a:avLst/>
          </a:prstGeom>
          <a:solidFill>
            <a:srgbClr val="7FD0F2"/>
          </a:solidFill>
          <a:ln/>
        </p:spPr>
      </p:sp>
      <p:sp>
        <p:nvSpPr>
          <p:cNvPr id="6" name="postit-2"/>
          <p:cNvSpPr/>
          <p:nvPr/>
        </p:nvSpPr>
        <p:spPr>
          <a:xfrm rot="-120000">
            <a:off x="1920240" y="822960"/>
            <a:ext cx="457200" cy="457200"/>
          </a:xfrm>
          <a:prstGeom prst="rect">
            <a:avLst/>
          </a:prstGeom>
          <a:solidFill>
            <a:srgbClr val="F7A8C4"/>
          </a:solidFill>
          <a:ln/>
        </p:spPr>
      </p:sp>
      <p:sp>
        <p:nvSpPr>
          <p:cNvPr id="7" name="postit-3"/>
          <p:cNvSpPr/>
          <p:nvPr/>
        </p:nvSpPr>
        <p:spPr>
          <a:xfrm rot="240000">
            <a:off x="2514600" y="822960"/>
            <a:ext cx="457200" cy="457200"/>
          </a:xfrm>
          <a:prstGeom prst="rect">
            <a:avLst/>
          </a:prstGeom>
          <a:solidFill>
            <a:srgbClr val="F6E7A1"/>
          </a:solidFill>
          <a:ln/>
        </p:spPr>
      </p:sp>
      <p:sp>
        <p:nvSpPr>
          <p:cNvPr id="8" name="postit-4"/>
          <p:cNvSpPr/>
          <p:nvPr/>
        </p:nvSpPr>
        <p:spPr>
          <a:xfrm rot="-180000">
            <a:off x="3108960" y="822960"/>
            <a:ext cx="457200" cy="457200"/>
          </a:xfrm>
          <a:prstGeom prst="rect">
            <a:avLst/>
          </a:prstGeom>
          <a:solidFill>
            <a:srgbClr val="F6B5A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Due strumenti, un solo obiettivo: arrivare all'orale sicura</a:t>
            </a:r>
            <a:endParaRPr lang="en-US" sz="3600" dirty="0"/>
          </a:p>
        </p:txBody>
      </p:sp>
      <p:sp>
        <p:nvSpPr>
          <p:cNvPr id="3" name="n1-bg"/>
          <p:cNvSpPr/>
          <p:nvPr/>
        </p:nvSpPr>
        <p:spPr>
          <a:xfrm>
            <a:off x="548640" y="1463040"/>
            <a:ext cx="5394960" cy="1417320"/>
          </a:xfrm>
          <a:prstGeom prst="rect">
            <a:avLst/>
          </a:prstGeom>
          <a:solidFill>
            <a:srgbClr val="C8EC6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n1"/>
          <p:cNvSpPr txBox="1"/>
          <p:nvPr/>
        </p:nvSpPr>
        <p:spPr>
          <a:xfrm>
            <a:off x="685800" y="1572768"/>
            <a:ext cx="5120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1. La porta dei post-it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La mappa concettuale: tutti i tuoi post-it divisi per autore, con i collegamenti tra le idee.</a:t>
            </a:r>
            <a:endParaRPr lang="en-US" sz="1600" dirty="0"/>
          </a:p>
        </p:txBody>
      </p:sp>
      <p:sp>
        <p:nvSpPr>
          <p:cNvPr id="5" name="n2-bg"/>
          <p:cNvSpPr/>
          <p:nvPr/>
        </p:nvSpPr>
        <p:spPr>
          <a:xfrm>
            <a:off x="6217920" y="1463040"/>
            <a:ext cx="5394960" cy="1417320"/>
          </a:xfrm>
          <a:prstGeom prst="rect">
            <a:avLst/>
          </a:prstGeom>
          <a:solidFill>
            <a:srgbClr val="7FD0F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n2"/>
          <p:cNvSpPr txBox="1"/>
          <p:nvPr/>
        </p:nvSpPr>
        <p:spPr>
          <a:xfrm>
            <a:off x="6355080" y="1572768"/>
            <a:ext cx="512064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2. Allenamento all'orale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L'app con le domande probabili del colloquio, i punti deboli e un timer da 2 minuti.</a:t>
            </a:r>
            <a:endParaRPr lang="en-US" sz="1600" dirty="0"/>
          </a:p>
        </p:txBody>
      </p:sp>
      <p:sp>
        <p:nvSpPr>
          <p:cNvPr id="7" name="img-map-frame"/>
          <p:cNvSpPr/>
          <p:nvPr/>
        </p:nvSpPr>
        <p:spPr>
          <a:xfrm>
            <a:off x="512064" y="3118104"/>
            <a:ext cx="5468112" cy="2897624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8" name="img-map" descr="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54680"/>
            <a:ext cx="5394960" cy="2824472"/>
          </a:xfrm>
          <a:prstGeom prst="rect">
            <a:avLst/>
          </a:prstGeom>
        </p:spPr>
      </p:pic>
      <p:sp>
        <p:nvSpPr>
          <p:cNvPr id="9" name="img-app-frame"/>
          <p:cNvSpPr/>
          <p:nvPr/>
        </p:nvSpPr>
        <p:spPr>
          <a:xfrm>
            <a:off x="6181344" y="3118104"/>
            <a:ext cx="3639312" cy="2666723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10" name="img-app" descr="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54680"/>
            <a:ext cx="3566160" cy="259357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966960" y="315468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45D"/>
                </a:solidFill>
              </a:rPr>
              <a:t>Sono pagine HTML: si aprono nel browser, anche dal telefono. Per presentare il progetto c'è anche Il filo del discorso (slide 10).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Il filo tra gli autori: da dove partire</a:t>
            </a:r>
            <a:endParaRPr lang="en-US" sz="3600" dirty="0"/>
          </a:p>
        </p:txBody>
      </p:sp>
      <p:sp>
        <p:nvSpPr>
          <p:cNvPr id="3" name="img-map2-frame"/>
          <p:cNvSpPr/>
          <p:nvPr/>
        </p:nvSpPr>
        <p:spPr>
          <a:xfrm>
            <a:off x="512064" y="1380744"/>
            <a:ext cx="6839712" cy="3615710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map2" descr="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3542558"/>
          </a:xfrm>
          <a:prstGeom prst="rect">
            <a:avLst/>
          </a:prstGeom>
        </p:spPr>
      </p:pic>
      <p:sp>
        <p:nvSpPr>
          <p:cNvPr id="5" name="n3-bg"/>
          <p:cNvSpPr/>
          <p:nvPr/>
        </p:nvSpPr>
        <p:spPr>
          <a:xfrm>
            <a:off x="7680960" y="1417320"/>
            <a:ext cx="3931920" cy="1325880"/>
          </a:xfrm>
          <a:prstGeom prst="rect">
            <a:avLst/>
          </a:prstGeom>
          <a:solidFill>
            <a:srgbClr val="F6E7A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n3"/>
          <p:cNvSpPr txBox="1"/>
          <p:nvPr/>
        </p:nvSpPr>
        <p:spPr>
          <a:xfrm>
            <a:off x="7818120" y="152704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Clicca un autore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Salti direttamente al suo pannello di post-it.</a:t>
            </a:r>
            <a:endParaRPr lang="en-US" sz="1600" dirty="0"/>
          </a:p>
        </p:txBody>
      </p:sp>
      <p:sp>
        <p:nvSpPr>
          <p:cNvPr id="7" name="n4-bg"/>
          <p:cNvSpPr/>
          <p:nvPr/>
        </p:nvSpPr>
        <p:spPr>
          <a:xfrm>
            <a:off x="7680960" y="2971800"/>
            <a:ext cx="3931920" cy="1325880"/>
          </a:xfrm>
          <a:prstGeom prst="rect">
            <a:avLst/>
          </a:prstGeom>
          <a:solidFill>
            <a:srgbClr val="F7A8C4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n4"/>
          <p:cNvSpPr txBox="1"/>
          <p:nvPr/>
        </p:nvSpPr>
        <p:spPr>
          <a:xfrm>
            <a:off x="7818120" y="308152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Leggi le frecce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Ogni freccia è un passaggio del tuo ragionamento: "oltre il piano", "chi rende ufficiale?".</a:t>
            </a:r>
            <a:endParaRPr lang="en-US" sz="1600" dirty="0"/>
          </a:p>
        </p:txBody>
      </p:sp>
      <p:sp>
        <p:nvSpPr>
          <p:cNvPr id="9" name="n5-bg"/>
          <p:cNvSpPr/>
          <p:nvPr/>
        </p:nvSpPr>
        <p:spPr>
          <a:xfrm>
            <a:off x="7680960" y="4526280"/>
            <a:ext cx="3931920" cy="1325880"/>
          </a:xfrm>
          <a:prstGeom prst="rect">
            <a:avLst/>
          </a:prstGeom>
          <a:solidFill>
            <a:srgbClr val="C8EC6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n5"/>
          <p:cNvSpPr txBox="1"/>
          <p:nvPr/>
        </p:nvSpPr>
        <p:spPr>
          <a:xfrm>
            <a:off x="7818120" y="463600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Etichetta "potere"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Long, Ferguson, Escobar e Mohanty: da qui viene la dimensione del potere.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 post-it e il pannello di studio</a:t>
            </a:r>
            <a:endParaRPr lang="en-US" sz="3600" dirty="0"/>
          </a:p>
        </p:txBody>
      </p:sp>
      <p:sp>
        <p:nvSpPr>
          <p:cNvPr id="3" name="img-notes-frame"/>
          <p:cNvSpPr/>
          <p:nvPr/>
        </p:nvSpPr>
        <p:spPr>
          <a:xfrm>
            <a:off x="512064" y="1380744"/>
            <a:ext cx="6839712" cy="4302252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notes" descr="no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4229100"/>
          </a:xfrm>
          <a:prstGeom prst="rect">
            <a:avLst/>
          </a:prstGeom>
        </p:spPr>
      </p:pic>
      <p:sp>
        <p:nvSpPr>
          <p:cNvPr id="5" name="notes-list"/>
          <p:cNvSpPr txBox="1"/>
          <p:nvPr/>
        </p:nvSpPr>
        <p:spPr>
          <a:xfrm>
            <a:off x="7680960" y="1417320"/>
            <a:ext cx="3931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Clicca un post-it: a destra si apre il pannello con il testo intero e i post-it collegati, con il perché del collegamento.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IMP in rosso: lo avevi segnato tu come importante.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Titolo barrato: è un'idea che l'autore critica.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Cerca un concetto ("potere", "agency") o filtra per autore.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Collegare ogni autore alla tua ricerca</a:t>
            </a:r>
            <a:endParaRPr lang="en-US" sz="3600" dirty="0"/>
          </a:p>
        </p:txBody>
      </p:sp>
      <p:sp>
        <p:nvSpPr>
          <p:cNvPr id="3" name="img-sq-frame"/>
          <p:cNvSpPr/>
          <p:nvPr/>
        </p:nvSpPr>
        <p:spPr>
          <a:xfrm>
            <a:off x="512064" y="1380744"/>
            <a:ext cx="6839712" cy="4302252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sq" descr="s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4229100"/>
          </a:xfrm>
          <a:prstGeom prst="rect">
            <a:avLst/>
          </a:prstGeom>
        </p:spPr>
      </p:pic>
      <p:sp>
        <p:nvSpPr>
          <p:cNvPr id="5" name="n6-bg"/>
          <p:cNvSpPr/>
          <p:nvPr/>
        </p:nvSpPr>
        <p:spPr>
          <a:xfrm>
            <a:off x="7680960" y="1417320"/>
            <a:ext cx="3931920" cy="1965960"/>
          </a:xfrm>
          <a:prstGeom prst="rect">
            <a:avLst/>
          </a:prstGeom>
          <a:solidFill>
            <a:srgbClr val="E3F1EE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n6"/>
          <p:cNvSpPr txBox="1"/>
          <p:nvPr/>
        </p:nvSpPr>
        <p:spPr>
          <a:xfrm>
            <a:off x="7818120" y="1527048"/>
            <a:ext cx="365760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Riquadro West Pokot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In ogni pannello: come usi quell'autore per leggere l'impianto di irrigazione. È una proposta da riscrivere con parole tue.</a:t>
            </a:r>
            <a:endParaRPr lang="en-US" sz="1600" dirty="0"/>
          </a:p>
        </p:txBody>
      </p:sp>
      <p:sp>
        <p:nvSpPr>
          <p:cNvPr id="7" name="n7-bg"/>
          <p:cNvSpPr/>
          <p:nvPr/>
        </p:nvSpPr>
        <p:spPr>
          <a:xfrm>
            <a:off x="7680960" y="3611880"/>
            <a:ext cx="3931920" cy="1965960"/>
          </a:xfrm>
          <a:prstGeom prst="rect">
            <a:avLst/>
          </a:prstGeom>
          <a:solidFill>
            <a:srgbClr val="E3F1EE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n7"/>
          <p:cNvSpPr txBox="1"/>
          <p:nvPr/>
        </p:nvSpPr>
        <p:spPr>
          <a:xfrm>
            <a:off x="7818120" y="3721608"/>
            <a:ext cx="365760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Le tue sotto-domande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SQ1 Relazioni, SQ2 Potere, SQ3 Ecological Framework: cliccane una e restano solo gli autori che la sostengono.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Modalità Ripasso: prima ricorda, poi controlla</a:t>
            </a:r>
            <a:endParaRPr lang="en-US" sz="3600" dirty="0"/>
          </a:p>
        </p:txBody>
      </p:sp>
      <p:sp>
        <p:nvSpPr>
          <p:cNvPr id="3" name="img-study-frame"/>
          <p:cNvSpPr/>
          <p:nvPr/>
        </p:nvSpPr>
        <p:spPr>
          <a:xfrm>
            <a:off x="4809744" y="1380744"/>
            <a:ext cx="6839712" cy="4302252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study" descr="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17320"/>
            <a:ext cx="6766560" cy="4229100"/>
          </a:xfrm>
          <a:prstGeom prst="rect">
            <a:avLst/>
          </a:prstGeom>
        </p:spPr>
      </p:pic>
      <p:sp>
        <p:nvSpPr>
          <p:cNvPr id="5" name="step-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n-1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tept-1"/>
          <p:cNvSpPr txBox="1"/>
          <p:nvPr/>
        </p:nvSpPr>
        <p:spPr>
          <a:xfrm>
            <a:off x="1371600" y="13716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Premi Ripasso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Il testo dei post-it e dei riquadri West Pokot diventa sfocato.</a:t>
            </a:r>
            <a:endParaRPr lang="en-US" sz="1800" dirty="0"/>
          </a:p>
        </p:txBody>
      </p:sp>
      <p:sp>
        <p:nvSpPr>
          <p:cNvPr id="8" name="step-2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epn-2"/>
          <p:cNvSpPr txBox="1"/>
          <p:nvPr/>
        </p:nvSpPr>
        <p:spPr>
          <a:xfrm>
            <a:off x="54864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stept-2"/>
          <p:cNvSpPr txBox="1"/>
          <p:nvPr/>
        </p:nvSpPr>
        <p:spPr>
          <a:xfrm>
            <a:off x="1371600" y="28346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Ricorda ad alta voce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Leggi solo il titolo e prova a spiegare il concetto.</a:t>
            </a:r>
            <a:endParaRPr lang="en-US" sz="1800" dirty="0"/>
          </a:p>
        </p:txBody>
      </p:sp>
      <p:sp>
        <p:nvSpPr>
          <p:cNvPr id="11" name="step-3"/>
          <p:cNvSpPr/>
          <p:nvPr/>
        </p:nvSpPr>
        <p:spPr>
          <a:xfrm>
            <a:off x="54864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n-3"/>
          <p:cNvSpPr txBox="1"/>
          <p:nvPr/>
        </p:nvSpPr>
        <p:spPr>
          <a:xfrm>
            <a:off x="54864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stept-3"/>
          <p:cNvSpPr txBox="1"/>
          <p:nvPr/>
        </p:nvSpPr>
        <p:spPr>
          <a:xfrm>
            <a:off x="1371600" y="4297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Clicca e verifica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Il post-it si scopre e il pannello mostra a cosa si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Allenamento all'orale: tre schede</a:t>
            </a:r>
            <a:endParaRPr lang="en-US" sz="3600" dirty="0"/>
          </a:p>
        </p:txBody>
      </p:sp>
      <p:sp>
        <p:nvSpPr>
          <p:cNvPr id="3" name="img-weak-frame"/>
          <p:cNvSpPr/>
          <p:nvPr/>
        </p:nvSpPr>
        <p:spPr>
          <a:xfrm>
            <a:off x="5998464" y="1380744"/>
            <a:ext cx="5650992" cy="4129763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weak" descr="wea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577840" cy="4056611"/>
          </a:xfrm>
          <a:prstGeom prst="rect">
            <a:avLst/>
          </a:prstGeom>
        </p:spPr>
      </p:pic>
      <p:sp>
        <p:nvSpPr>
          <p:cNvPr id="5" name="n8-bg"/>
          <p:cNvSpPr/>
          <p:nvPr/>
        </p:nvSpPr>
        <p:spPr>
          <a:xfrm>
            <a:off x="548640" y="1417320"/>
            <a:ext cx="5212080" cy="1234440"/>
          </a:xfrm>
          <a:prstGeom prst="rect">
            <a:avLst/>
          </a:prstGeom>
          <a:solidFill>
            <a:srgbClr val="C8EC6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n8"/>
          <p:cNvSpPr txBox="1"/>
          <p:nvPr/>
        </p:nvSpPr>
        <p:spPr>
          <a:xfrm>
            <a:off x="685800" y="1527048"/>
            <a:ext cx="4937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Domande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Le domande probabili, con traccia e post-it da citare. Nuova area: Il filo del discorso.</a:t>
            </a:r>
            <a:endParaRPr lang="en-US" sz="1600" dirty="0"/>
          </a:p>
        </p:txBody>
      </p:sp>
      <p:sp>
        <p:nvSpPr>
          <p:cNvPr id="7" name="n9-bg"/>
          <p:cNvSpPr/>
          <p:nvPr/>
        </p:nvSpPr>
        <p:spPr>
          <a:xfrm>
            <a:off x="548640" y="2834640"/>
            <a:ext cx="5212080" cy="1234440"/>
          </a:xfrm>
          <a:prstGeom prst="rect">
            <a:avLst/>
          </a:prstGeom>
          <a:solidFill>
            <a:srgbClr val="F6B5A4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n9"/>
          <p:cNvSpPr txBox="1"/>
          <p:nvPr/>
        </p:nvSpPr>
        <p:spPr>
          <a:xfrm>
            <a:off x="685800" y="2944368"/>
            <a:ext cx="4937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Punti deboli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Le critiche più dure al progetto e come rispondere.</a:t>
            </a:r>
            <a:endParaRPr lang="en-US" sz="1600" dirty="0"/>
          </a:p>
        </p:txBody>
      </p:sp>
      <p:sp>
        <p:nvSpPr>
          <p:cNvPr id="9" name="n10-bg"/>
          <p:cNvSpPr/>
          <p:nvPr/>
        </p:nvSpPr>
        <p:spPr>
          <a:xfrm>
            <a:off x="548640" y="4251960"/>
            <a:ext cx="5212080" cy="1234440"/>
          </a:xfrm>
          <a:prstGeom prst="rect">
            <a:avLst/>
          </a:prstGeom>
          <a:solidFill>
            <a:srgbClr val="7FD0F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n10"/>
          <p:cNvSpPr txBox="1"/>
          <p:nvPr/>
        </p:nvSpPr>
        <p:spPr>
          <a:xfrm>
            <a:off x="685800" y="4361688"/>
            <a:ext cx="4937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Interrogami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Una domanda a caso tra quelle che non sai ancora.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Come allenarsi con una domanda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548640" y="182880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cardn-0"/>
          <p:cNvSpPr txBox="1"/>
          <p:nvPr/>
        </p:nvSpPr>
        <p:spPr>
          <a:xfrm>
            <a:off x="777240" y="2011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cardt-0"/>
          <p:cNvSpPr txBox="1"/>
          <p:nvPr/>
        </p:nvSpPr>
        <p:spPr>
          <a:xfrm>
            <a:off x="777240" y="28803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</a:rPr>
              <a:t>Avvia il timer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433D"/>
                </a:solidFill>
              </a:rPr>
              <a:t>Rispondi ad alta voce: hai 2 minuti, il tempo di una risposta all'orale.</a:t>
            </a:r>
            <a:endParaRPr lang="en-US" sz="1800" dirty="0"/>
          </a:p>
        </p:txBody>
      </p:sp>
      <p:sp>
        <p:nvSpPr>
          <p:cNvPr id="6" name="card-1"/>
          <p:cNvSpPr/>
          <p:nvPr/>
        </p:nvSpPr>
        <p:spPr>
          <a:xfrm>
            <a:off x="3383280" y="182880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7" name="cardn-1"/>
          <p:cNvSpPr txBox="1"/>
          <p:nvPr/>
        </p:nvSpPr>
        <p:spPr>
          <a:xfrm>
            <a:off x="3611880" y="2011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cardt-1"/>
          <p:cNvSpPr txBox="1"/>
          <p:nvPr/>
        </p:nvSpPr>
        <p:spPr>
          <a:xfrm>
            <a:off x="3611880" y="28803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</a:rPr>
              <a:t>Apri la traccia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433D"/>
                </a:solidFill>
              </a:rPr>
              <a:t>Confronta con la scaletta e con i post-it da citare.</a:t>
            </a:r>
            <a:endParaRPr lang="en-US" sz="1800" dirty="0"/>
          </a:p>
        </p:txBody>
      </p:sp>
      <p:sp>
        <p:nvSpPr>
          <p:cNvPr id="9" name="card-2"/>
          <p:cNvSpPr/>
          <p:nvPr/>
        </p:nvSpPr>
        <p:spPr>
          <a:xfrm>
            <a:off x="6217920" y="182880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0" name="cardn-2"/>
          <p:cNvSpPr txBox="1"/>
          <p:nvPr/>
        </p:nvSpPr>
        <p:spPr>
          <a:xfrm>
            <a:off x="6446520" y="2011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cardt-2"/>
          <p:cNvSpPr txBox="1"/>
          <p:nvPr/>
        </p:nvSpPr>
        <p:spPr>
          <a:xfrm>
            <a:off x="6446520" y="28803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</a:rPr>
              <a:t>Segna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433D"/>
                </a:solidFill>
              </a:rPr>
              <a:t>"La so" o "Da ripassare": il conteggio in alto ti dice a che punto sei.</a:t>
            </a:r>
            <a:endParaRPr lang="en-US" sz="1800" dirty="0"/>
          </a:p>
        </p:txBody>
      </p:sp>
      <p:sp>
        <p:nvSpPr>
          <p:cNvPr id="12" name="card-3"/>
          <p:cNvSpPr/>
          <p:nvPr/>
        </p:nvSpPr>
        <p:spPr>
          <a:xfrm>
            <a:off x="9052560" y="182880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3" name="cardn-3"/>
          <p:cNvSpPr txBox="1"/>
          <p:nvPr/>
        </p:nvSpPr>
        <p:spPr>
          <a:xfrm>
            <a:off x="9281160" y="2011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4" name="cardt-3"/>
          <p:cNvSpPr txBox="1"/>
          <p:nvPr/>
        </p:nvSpPr>
        <p:spPr>
          <a:xfrm>
            <a:off x="9281160" y="288036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</a:rPr>
              <a:t>Riformula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433D"/>
                </a:solidFill>
              </a:rPr>
              <a:t>Le tracce le ha scritte Claude dal tuo progetto: riscrivile con parole tue.</a:t>
            </a:r>
            <a:endParaRPr lang="en-US" sz="1800" dirty="0"/>
          </a:p>
        </p:txBody>
      </p:sp>
      <p:sp>
        <p:nvSpPr>
          <p:cNvPr id="15" name="save-note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45D"/>
                </a:solidFill>
              </a:rPr>
              <a:t>Le schede segnate restano salvate nel browser di quel dispositivo.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Ripassare dal telefono</a:t>
            </a:r>
            <a:endParaRPr lang="en-US" sz="3600" dirty="0"/>
          </a:p>
        </p:txBody>
      </p:sp>
      <p:sp>
        <p:nvSpPr>
          <p:cNvPr id="3" name="img-phone-map-frame"/>
          <p:cNvSpPr/>
          <p:nvPr/>
        </p:nvSpPr>
        <p:spPr>
          <a:xfrm>
            <a:off x="694944" y="1335024"/>
            <a:ext cx="2359152" cy="5020290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phone-map" descr="phon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86000" cy="4947138"/>
          </a:xfrm>
          <a:prstGeom prst="rect">
            <a:avLst/>
          </a:prstGeom>
        </p:spPr>
      </p:pic>
      <p:sp>
        <p:nvSpPr>
          <p:cNvPr id="5" name="img-phone-app-frame"/>
          <p:cNvSpPr/>
          <p:nvPr/>
        </p:nvSpPr>
        <p:spPr>
          <a:xfrm>
            <a:off x="3255264" y="1335024"/>
            <a:ext cx="2359152" cy="5020290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6" name="img-phone-app" descr="phone-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71600"/>
            <a:ext cx="2286000" cy="4947138"/>
          </a:xfrm>
          <a:prstGeom prst="rect">
            <a:avLst/>
          </a:prstGeom>
        </p:spPr>
      </p:pic>
      <p:sp>
        <p:nvSpPr>
          <p:cNvPr id="7" name="phone-list"/>
          <p:cNvSpPr txBox="1"/>
          <p:nvPr/>
        </p:nvSpPr>
        <p:spPr>
          <a:xfrm>
            <a:off x="6035040" y="1463040"/>
            <a:ext cx="55778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I post-it si dispongono su due colonne; i filtri scorrono di lato.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Toccando un post-it, il pannello di studio sale dal basso. "Chiudi" lo riabbassa.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La mappa degli autori si scorre in orizzontale.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211E"/>
                </a:solidFill>
              </a:rPr>
              <a:t>Per averla sempre a portata: dal browser, "Aggiungi a schermata Home".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Una routine di ripasso possibile</a:t>
            </a:r>
            <a:endParaRPr lang="en-US" sz="3600" dirty="0"/>
          </a:p>
        </p:txBody>
      </p:sp>
      <p:sp>
        <p:nvSpPr>
          <p:cNvPr id="3" name="r0-bg"/>
          <p:cNvSpPr/>
          <p:nvPr/>
        </p:nvSpPr>
        <p:spPr>
          <a:xfrm>
            <a:off x="548640" y="1463040"/>
            <a:ext cx="5394960" cy="1828800"/>
          </a:xfrm>
          <a:prstGeom prst="rect">
            <a:avLst/>
          </a:prstGeom>
          <a:solidFill>
            <a:srgbClr val="C8EC6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r0"/>
          <p:cNvSpPr txBox="1"/>
          <p:nvPr/>
        </p:nvSpPr>
        <p:spPr>
          <a:xfrm>
            <a:off x="685800" y="157276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Un autore al giorno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Mappa in modalità Ripasso: tutti i suoi post-it più il riquadro West Pokot.</a:t>
            </a:r>
            <a:endParaRPr lang="en-US" sz="1600" dirty="0"/>
          </a:p>
        </p:txBody>
      </p:sp>
      <p:sp>
        <p:nvSpPr>
          <p:cNvPr id="5" name="r1-bg"/>
          <p:cNvSpPr/>
          <p:nvPr/>
        </p:nvSpPr>
        <p:spPr>
          <a:xfrm>
            <a:off x="6217920" y="1463040"/>
            <a:ext cx="5394960" cy="1828800"/>
          </a:xfrm>
          <a:prstGeom prst="rect">
            <a:avLst/>
          </a:prstGeom>
          <a:solidFill>
            <a:srgbClr val="7FD0F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r1"/>
          <p:cNvSpPr txBox="1"/>
          <p:nvPr/>
        </p:nvSpPr>
        <p:spPr>
          <a:xfrm>
            <a:off x="6355080" y="157276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Una sotto-domanda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Filtra SQ1, SQ2 o SQ3 e spiega come ogni autore la sostiene.</a:t>
            </a:r>
            <a:endParaRPr lang="en-US" sz="1600" dirty="0"/>
          </a:p>
        </p:txBody>
      </p:sp>
      <p:sp>
        <p:nvSpPr>
          <p:cNvPr id="7" name="r2-bg"/>
          <p:cNvSpPr/>
          <p:nvPr/>
        </p:nvSpPr>
        <p:spPr>
          <a:xfrm>
            <a:off x="548640" y="3566160"/>
            <a:ext cx="5394960" cy="1828800"/>
          </a:xfrm>
          <a:prstGeom prst="rect">
            <a:avLst/>
          </a:prstGeom>
          <a:solidFill>
            <a:srgbClr val="F6E7A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r2"/>
          <p:cNvSpPr txBox="1"/>
          <p:nvPr/>
        </p:nvSpPr>
        <p:spPr>
          <a:xfrm>
            <a:off x="685800" y="367588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Cinque domande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Nell'app, scheda Interrogami. Poi una prova del discorso in modalità Presenta.</a:t>
            </a:r>
            <a:endParaRPr lang="en-US" sz="1600" dirty="0"/>
          </a:p>
        </p:txBody>
      </p:sp>
      <p:sp>
        <p:nvSpPr>
          <p:cNvPr id="9" name="r3-bg"/>
          <p:cNvSpPr/>
          <p:nvPr/>
        </p:nvSpPr>
        <p:spPr>
          <a:xfrm>
            <a:off x="6217920" y="3566160"/>
            <a:ext cx="5394960" cy="1828800"/>
          </a:xfrm>
          <a:prstGeom prst="rect">
            <a:avLst/>
          </a:prstGeom>
          <a:solidFill>
            <a:srgbClr val="F6B5A4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r3"/>
          <p:cNvSpPr txBox="1"/>
          <p:nvPr/>
        </p:nvSpPr>
        <p:spPr>
          <a:xfrm>
            <a:off x="6355080" y="367588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Due punti deboli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Rispondi alla critica senza guardare la traccia.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Dove trovarli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Sul sito vignini.github.io/sentiment, con un indice in due sezioni: il progetto di dottorato e il ripasso per l'orale. I file sono su GitHub (vignini/sentiment) nella cartella docs. Le istruzioni complete sono in ISTRUZIONI.md.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Il filo del discorso: la mappa per presentare</a:t>
            </a:r>
            <a:endParaRPr lang="en-US" sz="3600" dirty="0"/>
          </a:p>
        </p:txBody>
      </p:sp>
      <p:sp>
        <p:nvSpPr>
          <p:cNvPr id="3" name="img-map2-frame"/>
          <p:cNvSpPr/>
          <p:nvPr/>
        </p:nvSpPr>
        <p:spPr>
          <a:xfrm>
            <a:off x="512064" y="1380744"/>
            <a:ext cx="6839712" cy="3615710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map2" descr="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3542558"/>
          </a:xfrm>
          <a:prstGeom prst="rect">
            <a:avLst/>
          </a:prstGeom>
        </p:spPr>
      </p:pic>
      <p:sp>
        <p:nvSpPr>
          <p:cNvPr id="5" name="n3-bg"/>
          <p:cNvSpPr/>
          <p:nvPr/>
        </p:nvSpPr>
        <p:spPr>
          <a:xfrm>
            <a:off x="7680960" y="1417320"/>
            <a:ext cx="3931920" cy="1325880"/>
          </a:xfrm>
          <a:prstGeom prst="rect">
            <a:avLst/>
          </a:prstGeom>
          <a:solidFill>
            <a:srgbClr val="F6E7A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n3"/>
          <p:cNvSpPr txBox="1"/>
          <p:nvPr/>
        </p:nvSpPr>
        <p:spPr>
          <a:xfrm>
            <a:off x="7818120" y="152704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12 tappe in 4 atti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Dalla storia di West Pokot alla domanda finale. I numeri in alto portano alla tappa.</a:t>
            </a:r>
            <a:endParaRPr lang="en-US" sz="1600" dirty="0"/>
          </a:p>
        </p:txBody>
      </p:sp>
      <p:sp>
        <p:nvSpPr>
          <p:cNvPr id="7" name="n4-bg"/>
          <p:cNvSpPr/>
          <p:nvPr/>
        </p:nvSpPr>
        <p:spPr>
          <a:xfrm>
            <a:off x="7680960" y="2971800"/>
            <a:ext cx="3931920" cy="1325880"/>
          </a:xfrm>
          <a:prstGeom prst="rect">
            <a:avLst/>
          </a:prstGeom>
          <a:solidFill>
            <a:srgbClr val="F7A8C4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n4"/>
          <p:cNvSpPr txBox="1"/>
          <p:nvPr/>
        </p:nvSpPr>
        <p:spPr>
          <a:xfrm>
            <a:off x="7818120" y="308152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Cosa dire e frase-ponte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Per ogni tappa: testo, parole chiave, la frase che porta alla tappa dopo e "Se ti chiedono…".</a:t>
            </a:r>
            <a:endParaRPr lang="en-US" sz="1600" dirty="0"/>
          </a:p>
        </p:txBody>
      </p:sp>
      <p:sp>
        <p:nvSpPr>
          <p:cNvPr id="9" name="n5-bg"/>
          <p:cNvSpPr/>
          <p:nvPr/>
        </p:nvSpPr>
        <p:spPr>
          <a:xfrm>
            <a:off x="7680960" y="4526280"/>
            <a:ext cx="3931920" cy="1325880"/>
          </a:xfrm>
          <a:prstGeom prst="rect">
            <a:avLst/>
          </a:prstGeom>
          <a:solidFill>
            <a:srgbClr val="D9C6F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n5"/>
          <p:cNvSpPr txBox="1"/>
          <p:nvPr/>
        </p:nvSpPr>
        <p:spPr>
          <a:xfrm>
            <a:off x="7818120" y="4636008"/>
            <a:ext cx="36576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1A17"/>
                </a:solidFill>
              </a:rPr>
              <a:t>Post-it lilla tratteggiati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1A17"/>
                </a:solidFill>
              </a:rPr>
              <a:t>Sono proposte di Claude: riscrivili con parole tue.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Modalità Presenta: provare il discorso</a:t>
            </a:r>
            <a:endParaRPr lang="en-US" sz="3600" dirty="0"/>
          </a:p>
        </p:txBody>
      </p:sp>
      <p:sp>
        <p:nvSpPr>
          <p:cNvPr id="3" name="img-study-frame"/>
          <p:cNvSpPr/>
          <p:nvPr/>
        </p:nvSpPr>
        <p:spPr>
          <a:xfrm>
            <a:off x="4809744" y="1380744"/>
            <a:ext cx="6839712" cy="4302252"/>
          </a:xfrm>
          <a:prstGeom prst="rect">
            <a:avLst/>
          </a:prstGeom>
          <a:solidFill>
            <a:srgbClr val="E6E1DA"/>
          </a:solidFill>
          <a:ln/>
        </p:spPr>
      </p:sp>
      <p:pic>
        <p:nvPicPr>
          <p:cNvPr id="4" name="img-study" descr="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17320"/>
            <a:ext cx="6766560" cy="4229100"/>
          </a:xfrm>
          <a:prstGeom prst="rect">
            <a:avLst/>
          </a:prstGeom>
        </p:spPr>
      </p:pic>
      <p:sp>
        <p:nvSpPr>
          <p:cNvPr id="5" name="step-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n-1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tept-1"/>
          <p:cNvSpPr txBox="1"/>
          <p:nvPr/>
        </p:nvSpPr>
        <p:spPr>
          <a:xfrm>
            <a:off x="1371600" y="13716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Scegli la durata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5, 10, 15 o 20 minuti: il tempo si divide tra le tappe.</a:t>
            </a:r>
            <a:endParaRPr lang="en-US" sz="1800" dirty="0"/>
          </a:p>
        </p:txBody>
      </p:sp>
      <p:sp>
        <p:nvSpPr>
          <p:cNvPr id="8" name="step-2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epn-2"/>
          <p:cNvSpPr txBox="1"/>
          <p:nvPr/>
        </p:nvSpPr>
        <p:spPr>
          <a:xfrm>
            <a:off x="54864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stept-2"/>
          <p:cNvSpPr txBox="1"/>
          <p:nvPr/>
        </p:nvSpPr>
        <p:spPr>
          <a:xfrm>
            <a:off x="1371600" y="28346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Premi Presenta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Una tappa alla volta, con frecce, swipe o Avanti. Il timer diventa rosso se sfori.</a:t>
            </a:r>
            <a:endParaRPr lang="en-US" sz="1800" dirty="0"/>
          </a:p>
        </p:txBody>
      </p:sp>
      <p:sp>
        <p:nvSpPr>
          <p:cNvPr id="11" name="step-3"/>
          <p:cNvSpPr/>
          <p:nvPr/>
        </p:nvSpPr>
        <p:spPr>
          <a:xfrm>
            <a:off x="54864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n-3"/>
          <p:cNvSpPr txBox="1"/>
          <p:nvPr/>
        </p:nvSpPr>
        <p:spPr>
          <a:xfrm>
            <a:off x="54864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stept-3"/>
          <p:cNvSpPr txBox="1"/>
          <p:nvPr/>
        </p:nvSpPr>
        <p:spPr>
          <a:xfrm>
            <a:off x="1371600" y="4297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Dillo a memoria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45D"/>
                </a:solidFill>
              </a:rPr>
              <a:t>Il testo è nascosto: parti dalle parole chiave, poi controlla con "Mostra testo".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45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rta dei post-it">
  <a:themeElements>
    <a:clrScheme name="Porta dei post-it">
      <a:dk1>
        <a:srgbClr val="24211E"/>
      </a:dk1>
      <a:lt1>
        <a:srgbClr val="FFFFFF"/>
      </a:lt1>
      <a:dk2>
        <a:srgbClr val="3B2A20"/>
      </a:dk2>
      <a:lt2>
        <a:srgbClr val="F3F1ED"/>
      </a:lt2>
      <a:accent1>
        <a:srgbClr val="0F6B63"/>
      </a:accent1>
      <a:accent2>
        <a:srgbClr val="C8EC6A"/>
      </a:accent2>
      <a:accent3>
        <a:srgbClr val="7FD0F2"/>
      </a:accent3>
      <a:accent4>
        <a:srgbClr val="F7A8C4"/>
      </a:accent4>
      <a:accent5>
        <a:srgbClr val="F6B5A4"/>
      </a:accent5>
      <a:accent6>
        <a:srgbClr val="F6E7A1"/>
      </a:accent6>
      <a:hlink>
        <a:srgbClr val="0F6B63"/>
      </a:hlink>
      <a:folHlink>
        <a:srgbClr val="3B2A20"/>
      </a:folHlink>
    </a:clrScheme>
    <a:fontScheme name="Porta dei post-i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Come usare la mappa dei post-it</dc:title>
  <dc:subject>PptxGenJS Presentation</dc:subject>
  <dc:creator>Claude</dc:creator>
  <cp:lastModifiedBy>Claude</cp:lastModifiedBy>
  <cp:revision>1</cp:revision>
  <dcterms:created xsi:type="dcterms:W3CDTF">2026-10-30T14:07:38Z</dcterms:created>
  <dcterms:modified xsi:type="dcterms:W3CDTF">2026-10-30T14:07:38Z</dcterms:modified>
</cp:coreProperties>
</file>